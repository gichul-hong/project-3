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D4ED8"/>
                </a:solidFill>
                <a:latin typeface="맑은고딕"/>
              </a:defRPr>
            </a:pPr>
            <a:r>
              <a:t>SD3.5 FEW-SHOT MULTI-SUBJECT PERSONALIZATION GENERATION</a:t>
            </a:r>
          </a:p>
          <a:p>
            <a:pPr>
              <a:spcAft>
                <a:spcPts val="600"/>
              </a:spcAft>
              <a:defRPr sz="2400" b="1">
                <a:solidFill>
                  <a:srgbClr val="0F172A"/>
                </a:solidFill>
                <a:latin typeface="맑은고딕"/>
              </a:defRPr>
            </a:pPr>
            <a:r>
              <a:t>Flow-Matching ODE 제어와 Multi-Objective Ensemble을 통한</a:t>
            </a:r>
            <a:br/>
            <a:r>
              <a:t>SD3.5 Few-Shot Multi-Subject 개인화 생성</a:t>
            </a:r>
          </a:p>
          <a:p>
            <a:pPr>
              <a:defRPr sz="1300" i="1">
                <a:solidFill>
                  <a:srgbClr val="64748B"/>
                </a:solidFill>
                <a:latin typeface="맑은고딕"/>
              </a:defRPr>
            </a:pPr>
            <a:r>
              <a:t>Identity Preservation (CLIP-I)과 Prompt Fidelity (CLIP-T)의 파레토 프론티어를 넘어서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40280"/>
            <a:ext cx="10728655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D4ED8"/>
                </a:solidFill>
                <a:latin typeface="맑은고딕"/>
              </a:defRPr>
            </a:pPr>
            <a:r>
              <a:t>📌 EXECUTIVE SUMMARY</a:t>
            </a:r>
          </a:p>
          <a:p>
            <a:pPr>
              <a:defRPr sz="1150">
                <a:solidFill>
                  <a:srgbClr val="1E293B"/>
                </a:solidFill>
                <a:latin typeface="맑은고딕"/>
              </a:defRPr>
            </a:pPr>
            <a:r>
              <a:t>본 프로젝트는 인물, 동물, 사물, 풍경 등 10종의 다양한 도메인에 대해 단 5장의 소수 샷(Few-Shot) 데이터만으로 피사체의 미세 정체성(Identity)을 완벽 보존하면서, 배경 및 조명 변환 프롬프트 충실도(Fidelity)를 극대화하는 엔드투엔드 SOTA 개인화 생성 파이프라인을 구축하였습니다.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2542032" cy="2651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611880"/>
            <a:ext cx="22677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맑은고딕"/>
              </a:defRPr>
            </a:pPr>
            <a:r>
              <a:t>1. 이론 기반 궤적 제어</a:t>
            </a:r>
          </a:p>
          <a:p>
            <a:pPr>
              <a:defRPr sz="1100">
                <a:solidFill>
                  <a:srgbClr val="1E293B"/>
                </a:solidFill>
                <a:latin typeface="맑은고딕"/>
              </a:defRPr>
            </a:pPr>
            <a:r>
              <a:t>SD3.5 Rectified Flow 속도장 제어 기반 28스텝 Controlled ODE 인버전 (2.5배 가속)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3474720"/>
            <a:ext cx="2542032" cy="2651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3611880"/>
            <a:ext cx="22677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맑은고딕"/>
              </a:defRPr>
            </a:pPr>
            <a:r>
              <a:t>2. 확률 통계학적 분산 보존</a:t>
            </a:r>
          </a:p>
          <a:p>
            <a:pPr>
              <a:defRPr sz="1100">
                <a:solidFill>
                  <a:srgbClr val="1E293B"/>
                </a:solidFill>
                <a:latin typeface="맑은고딕"/>
              </a:defRPr>
            </a:pPr>
            <a:r>
              <a:t>구면 보간(Spherical Blend)을 통해 표준편차 σ=1.0 가우시안 텍스처 100% 보존 및 블러 방지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3474720"/>
            <a:ext cx="2542032" cy="2651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3611880"/>
            <a:ext cx="22677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맑은고딕"/>
              </a:defRPr>
            </a:pPr>
            <a:r>
              <a:t>3. 실패 분석과 자가 치유</a:t>
            </a:r>
          </a:p>
          <a:p>
            <a:pPr>
              <a:defRPr sz="1100">
                <a:solidFill>
                  <a:srgbClr val="1E293B"/>
                </a:solidFill>
                <a:latin typeface="맑은고딕"/>
              </a:defRPr>
            </a:pPr>
            <a:r>
              <a:t>순백색 배경 잠재공간 고정 메커니즘 정량 규명 + Crop 모드 &amp; White-Bg Guard 탑재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3474720"/>
            <a:ext cx="2542032" cy="2651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3611880"/>
            <a:ext cx="22677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맑은고딕"/>
              </a:defRPr>
            </a:pPr>
            <a:r>
              <a:t>4. 목적함수 완벽 정렬</a:t>
            </a:r>
          </a:p>
          <a:p>
            <a:pPr>
              <a:defRPr sz="1100">
                <a:solidFill>
                  <a:srgbClr val="1E293B"/>
                </a:solidFill>
                <a:latin typeface="맑은고딕"/>
              </a:defRPr>
            </a:pPr>
            <a:r>
              <a:t>공식 벤치마크 리더보드 점수(T+I)와 100% 일치하는 1:1 다목적 MMR 선별기 구축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맑은고딕"/>
              </a:defRPr>
            </a:pPr>
            <a:r>
              <a:t>Flow-Matching ODE &amp; Multi-Objective Ensemble SD3.5  |  Slide 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맑은고딕"/>
              </a:defRPr>
            </a:pPr>
            <a:r>
              <a:t>PROBLEM STATEMENT &amp; THE PARETO DILEMMA</a:t>
            </a:r>
          </a:p>
          <a:p>
            <a:pPr>
              <a:defRPr sz="2200" b="1">
                <a:solidFill>
                  <a:srgbClr val="0F172A"/>
                </a:solidFill>
                <a:latin typeface="맑은고딕"/>
              </a:defRPr>
            </a:pPr>
            <a:r>
              <a:t>개인화 이미지 생성의 핵심 딜레마: Identity vs Fidelity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3931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30540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E11D48"/>
                </a:solidFill>
                <a:latin typeface="맑은고딕"/>
              </a:defRPr>
            </a:pPr>
            <a:r>
              <a:t>⚠️ 과적합(Overfitting)의 덫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상태: </a:t>
            </a:r>
            <a:r>
              <a:rPr sz="1100">
                <a:solidFill>
                  <a:srgbClr val="1E293B"/>
                </a:solidFill>
                <a:latin typeface="맑은고딕"/>
              </a:rPr>
              <a:t>CLIP-I ↑, CLIP-T ↓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증상: </a:t>
            </a:r>
            <a:r>
              <a:rPr sz="1100">
                <a:solidFill>
                  <a:srgbClr val="1E293B"/>
                </a:solidFill>
                <a:latin typeface="맑은고딕"/>
              </a:rPr>
              <a:t>피사체의 정체성은 유지되나, 프롬프트에서 지시한 배경, 조명, 구도 변경에 전혀 반응하지 못하고 원본 학습 이미지 스냅샷에 고정됨.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원인: </a:t>
            </a:r>
            <a:r>
              <a:rPr sz="1100">
                <a:solidFill>
                  <a:srgbClr val="1E293B"/>
                </a:solidFill>
                <a:latin typeface="맑은고딕"/>
              </a:rPr>
              <a:t>소수 샷 학습 시 LoRA rank가 과도하거나 Text Encoder가 과도하게 튜닝되어 텍스트 가이던스 상실.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62856" y="1600200"/>
            <a:ext cx="30540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D97706"/>
                </a:solidFill>
                <a:latin typeface="맑은고딕"/>
              </a:defRPr>
            </a:pPr>
            <a:r>
              <a:t>⚠️ 과소적합(Underfitting)의 덫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상태: </a:t>
            </a:r>
            <a:r>
              <a:rPr sz="1100">
                <a:solidFill>
                  <a:srgbClr val="1E293B"/>
                </a:solidFill>
                <a:latin typeface="맑은고딕"/>
              </a:rPr>
              <a:t>CLIP-T ↑, CLIP-I ↓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증상: </a:t>
            </a:r>
            <a:r>
              <a:rPr sz="1100">
                <a:solidFill>
                  <a:srgbClr val="1E293B"/>
                </a:solidFill>
                <a:latin typeface="맑은고딕"/>
              </a:rPr>
              <a:t>프롬프트의 신규 씬과 스타일은 잘 반영되나, 피사체의 고유 디테일(얼굴 이목구비, 텍스처, 원목 패턴, 로고)이 뭉개지거나 소실됨.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원인: </a:t>
            </a:r>
            <a:r>
              <a:rPr sz="1100">
                <a:solidFill>
                  <a:srgbClr val="1E293B"/>
                </a:solidFill>
                <a:latin typeface="맑은고딕"/>
              </a:rPr>
              <a:t>일반화 성능 확보를 위한 과도한 규제(Regularization) 또는 인버전 궤적 제어 미흡.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39319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1" y="1600200"/>
            <a:ext cx="30540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59669"/>
                </a:solidFill>
                <a:latin typeface="맑은고딕"/>
              </a:defRPr>
            </a:pPr>
            <a:r>
              <a:t>🎯 프로젝트 핵심 목표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목표 점수: </a:t>
            </a:r>
            <a:r>
              <a:rPr sz="1100">
                <a:solidFill>
                  <a:srgbClr val="1E293B"/>
                </a:solidFill>
                <a:latin typeface="맑은고딕"/>
              </a:rPr>
              <a:t>Total Score (CLIP-T + CLIP-I) 1.060+ 돌파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파레토 장벽 극복: </a:t>
            </a:r>
            <a:r>
              <a:rPr sz="1100">
                <a:solidFill>
                  <a:srgbClr val="1E293B"/>
                </a:solidFill>
                <a:latin typeface="맑은고딕"/>
              </a:rPr>
              <a:t>Identity Preservation과 Prompt Fidelity 간 상호 잠식 없는 우상향 Pareto Frontier 형성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품질 검증: </a:t>
            </a:r>
            <a:r>
              <a:rPr sz="1100">
                <a:solidFill>
                  <a:srgbClr val="1E293B"/>
                </a:solidFill>
                <a:latin typeface="맑은고딕"/>
              </a:rPr>
              <a:t>백색 아티팩트, 레터박스, 고주파 블러 등 시각적 결함 0% 사수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32120"/>
            <a:ext cx="10728655" cy="731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96128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D4ED8"/>
                </a:solidFill>
                <a:latin typeface="맑은고딕"/>
              </a:defRPr>
            </a:pPr>
            <a:r>
              <a:t>💡 핵심 가설 및 전략: 모델 파라미터(LoRA) 업데이트만으로는 한계가 명확하므로, 추론 시점의 잠재 공간 상미분방정식 궤적 제어(Controlled ODE)와 다목적 앙상블(Multi-Objective Ensemble)을 결합하여 딜레마를 완벽히 해결한다.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맑은고딕"/>
              </a:defRPr>
            </a:pPr>
            <a:r>
              <a:t>Flow-Matching ODE &amp; Multi-Objective Ensemble SD3.5  |  Slide 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맑은고딕"/>
              </a:defRPr>
            </a:pPr>
            <a:r>
              <a:t>BASELINE &amp; BOTTLENECKS: EXP-01 ~ EXP-05</a:t>
            </a:r>
          </a:p>
          <a:p>
            <a:pPr>
              <a:defRPr sz="2200" b="1">
                <a:solidFill>
                  <a:srgbClr val="0F172A"/>
                </a:solidFill>
                <a:latin typeface="맑은고딕"/>
              </a:defRPr>
            </a:pPr>
            <a:r>
              <a:t>단순 Inversion과 순수 텍스트 LoRA의 한계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75504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097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맑은고딕"/>
              </a:defRPr>
            </a:pPr>
            <a:r>
              <a:t>1️⃣ Exp-01: Base Inversion (No LoRA)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접근 방식: </a:t>
            </a:r>
            <a:r>
              <a:rPr sz="1100">
                <a:solidFill>
                  <a:srgbClr val="1E293B"/>
                </a:solidFill>
                <a:latin typeface="맑은고딕"/>
              </a:rPr>
              <a:t>학습 가중치 업데이트 없이 SD3.5의 기본 역방향 노이즈 궤적(Inversion)만 활용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결과 지표: </a:t>
            </a:r>
            <a:r>
              <a:rPr sz="1100">
                <a:solidFill>
                  <a:srgbClr val="1E293B"/>
                </a:solidFill>
                <a:latin typeface="맑은고딕"/>
              </a:rPr>
              <a:t>CLIP-T: 0.2520  |  CLIP-I: 0.5830  |  Total Score: 0.8350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한계점: </a:t>
            </a:r>
            <a:r>
              <a:rPr sz="1100">
                <a:solidFill>
                  <a:srgbClr val="1E293B"/>
                </a:solidFill>
                <a:latin typeface="맑은고딕"/>
              </a:rPr>
              <a:t>새로운 프롬프트 씬(배경/포즈 변환) 적용 시 피사체의 이목구비와 형태가 완전히 붕괴되는 현상 발생. 소수 샷 정체성 임베딩 실패.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463040"/>
            <a:ext cx="5175504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55664" y="1600200"/>
            <a:ext cx="48097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맑은고딕"/>
              </a:defRPr>
            </a:pPr>
            <a:r>
              <a:t>2️⃣ Exp-03/05: Augmented LoRA HQ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접근 방식: </a:t>
            </a:r>
            <a:r>
              <a:rPr sz="1100">
                <a:solidFill>
                  <a:srgbClr val="1E293B"/>
                </a:solidFill>
                <a:latin typeface="맑은고딕"/>
              </a:rPr>
              <a:t>T5-XXL 3중 텍스트 인코더 + Rank 64/Alpha 64 고해상도 LoRA 파라미터 학습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결과 지표: </a:t>
            </a:r>
            <a:r>
              <a:rPr sz="1100">
                <a:solidFill>
                  <a:srgbClr val="1E293B"/>
                </a:solidFill>
                <a:latin typeface="맑은고딕"/>
              </a:rPr>
              <a:t>CLIP-T: 0.2980  |  CLIP-I: 0.7040  |  Total Score: 1.0020 (약 +20% 상승)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한계점: </a:t>
            </a:r>
            <a:r>
              <a:rPr sz="1100">
                <a:solidFill>
                  <a:srgbClr val="1E293B"/>
                </a:solidFill>
                <a:latin typeface="맑은고딕"/>
              </a:rPr>
              <a:t>고주파 텍스처 복원에는 성공했으나, 텍스트 가이던스 시 미세 윤곽선이 흔들리며 정체성 점수(CLIP-I)가 0.70 대에서 정체됨.</a:t>
            </a:r>
          </a:p>
        </p:txBody>
      </p:sp>
      <p:pic>
        <p:nvPicPr>
          <p:cNvPr id="8" name="Picture 7" descr="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3566160"/>
            <a:ext cx="1188720" cy="1188720"/>
          </a:xfrm>
          <a:prstGeom prst="rect">
            <a:avLst/>
          </a:prstGeom>
        </p:spPr>
      </p:pic>
      <p:pic>
        <p:nvPicPr>
          <p:cNvPr id="9" name="Picture 8" descr="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56616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5074920"/>
            <a:ext cx="10728655" cy="11887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6636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D4ED8"/>
                </a:solidFill>
                <a:latin typeface="맑은고딕"/>
              </a:defRPr>
            </a:pPr>
            <a:r>
              <a:t>💡 핵심 연구 통찰 (Key Research Insight)</a:t>
            </a:r>
          </a:p>
          <a:p>
            <a:pPr>
              <a:defRPr sz="1150">
                <a:solidFill>
                  <a:srgbClr val="1E293B"/>
                </a:solidFill>
                <a:latin typeface="맑은고딕"/>
              </a:defRPr>
            </a:pPr>
            <a:r>
              <a:t>"모델 파라미터(LoRA)의 단순 튜닝만으로는 정체성 보존과 텍스트 충실도의 파레토 한계를 넘을 수 없다. 추론(Inference) 시점의 잠재 공간 궤적 제어(Controlled ODE)와 생성 후 다목적 선별(Multi-Objective Reranking)이 결합되어야만 1.060 이상의 SOTA 영역으로 진입할 수 있다."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맑은고딕"/>
              </a:defRPr>
            </a:pPr>
            <a:r>
              <a:t>Flow-Matching ODE &amp; Multi-Objective Ensemble SD3.5  |  Slide 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맑은고딕"/>
              </a:defRPr>
            </a:pPr>
            <a:r>
              <a:t>KEY INNOVATION 1: 28-STEP EULER CONTROLLED ODE</a:t>
            </a:r>
          </a:p>
          <a:p>
            <a:pPr>
              <a:defRPr sz="2200" b="1">
                <a:solidFill>
                  <a:srgbClr val="0F172A"/>
                </a:solidFill>
                <a:latin typeface="맑은고딕"/>
              </a:defRPr>
            </a:pPr>
            <a:r>
              <a:t>Rectified Flow 상미분방정식 궤적 제어 &amp; 2.5배 가속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D4ED8"/>
                </a:solidFill>
                <a:latin typeface="맑은고딕"/>
              </a:defRPr>
            </a:pPr>
            <a:r>
              <a:t>📐 CONTROLLED VELOCITY FIELD EQUATION</a:t>
            </a:r>
          </a:p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  <a:latin typeface="Consolas"/>
              </a:defRPr>
            </a:pPr>
            <a:r>
              <a:t>v_controlled = v_model + η(t) · (v_ref - v_model),    where η(t) = η₀ · ((σ - τ) / (1 - τ))¹·²</a:t>
            </a:r>
          </a:p>
          <a:p>
            <a:pPr>
              <a:defRPr sz="1100">
                <a:solidFill>
                  <a:srgbClr val="64748B"/>
                </a:solidFill>
                <a:latin typeface="맑은고딕"/>
              </a:defRPr>
            </a:pPr>
            <a:r>
              <a:t>• v_model: SD3.5 프롬프트 추론 속도장  |  v_ref: 참조 이미지 역방향 Inversion 속도장  |  τ: Threshold, η₀: Initial Guidance Strength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5175504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480974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맑은고딕"/>
              </a:defRPr>
            </a:pPr>
            <a:r>
              <a:t>⚙️ 동적 궤적 제어 동작 원리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초기 구간 (σ &gt; τ): </a:t>
            </a:r>
            <a:r>
              <a:rPr sz="1100">
                <a:solidFill>
                  <a:srgbClr val="1E293B"/>
                </a:solidFill>
                <a:latin typeface="맑은고딕"/>
              </a:rPr>
              <a:t>디노이징 극초반에는 참조 이미지의 구도와 피사체 형태(Identity)를 강력하게 유도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후기 구간 (σ ≤ τ): </a:t>
            </a:r>
            <a:r>
              <a:rPr sz="1100">
                <a:solidFill>
                  <a:srgbClr val="1E293B"/>
                </a:solidFill>
                <a:latin typeface="맑은고딕"/>
              </a:rPr>
              <a:t>가이던스 계수를 완전히 차단(η = 0)하여 프롬프트의 신규 배경, 조명, 텍스처 렌더링 자율성 100% 개방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도메인 적응: </a:t>
            </a:r>
            <a:r>
              <a:rPr sz="1100">
                <a:solidFill>
                  <a:srgbClr val="1E293B"/>
                </a:solidFill>
                <a:latin typeface="맑은고딕"/>
              </a:rPr>
              <a:t>가구/소품(τ=0.66, η=0.76) vs 인물/풍경(τ=0.60, η=0.70) 차등 파라미터 적용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3017520"/>
            <a:ext cx="5175504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3154680"/>
            <a:ext cx="480974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맑은고딕"/>
              </a:defRPr>
            </a:pPr>
            <a:r>
              <a:t>🚀 2.5배 생성 속도 가속 성과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기존 방식 (Heun 2차): </a:t>
            </a:r>
            <a:r>
              <a:rPr sz="1100">
                <a:solidFill>
                  <a:srgbClr val="1E293B"/>
                </a:solidFill>
                <a:latin typeface="맑은고딕"/>
              </a:rPr>
              <a:t>50스텝 Heun ODE 솔버 사용 시 서브젝트당 7.5분 소요 (연산 병목 발생)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혁신 방식 (Euler 1차): </a:t>
            </a:r>
            <a:r>
              <a:rPr sz="1100">
                <a:solidFill>
                  <a:srgbClr val="1E293B"/>
                </a:solidFill>
                <a:latin typeface="맑은고딕"/>
              </a:rPr>
              <a:t>controlled velocity field 덕분에 28스텝 1차 Euler 스케줄러로도 오차 없이 수렴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가속 결과: </a:t>
            </a:r>
            <a:r>
              <a:rPr sz="1100">
                <a:solidFill>
                  <a:srgbClr val="1E293B"/>
                </a:solidFill>
                <a:latin typeface="맑은고딕"/>
              </a:rPr>
              <a:t>서브젝트당 생성 시간을 1.2분으로 단축하여 2.5배 가속 달성 + 품질 하락 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맑은고딕"/>
              </a:defRPr>
            </a:pPr>
            <a:r>
              <a:t>Flow-Matching ODE &amp; Multi-Objective Ensemble SD3.5  |  Slide 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맑은고딕"/>
              </a:defRPr>
            </a:pPr>
            <a:r>
              <a:t>KEY INNOVATION 2: SPHERICAL BLEND VARIANCE PRESERVATION</a:t>
            </a:r>
          </a:p>
          <a:p>
            <a:pPr>
              <a:defRPr sz="2200" b="1">
                <a:solidFill>
                  <a:srgbClr val="0F172A"/>
                </a:solidFill>
                <a:latin typeface="맑은고딕"/>
              </a:defRPr>
            </a:pPr>
            <a:r>
              <a:t>기하학적 구면 보간을 통한 고주파 텍스처 및 분산 보존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75504" cy="38404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0974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11D48"/>
                </a:solidFill>
                <a:latin typeface="맑은고딕"/>
              </a:defRPr>
            </a:pPr>
            <a:r>
              <a:t>⚠️ 기존 선형 보간(Linear Blend)의 수학적 결함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onsolas"/>
              </a:defRPr>
            </a:pPr>
            <a:r>
              <a:t>x_blend = (1 - s) · x + s · n</a:t>
            </a:r>
          </a:p>
          <a:p>
            <a:pPr>
              <a:spcAft>
                <a:spcPts val="1000"/>
              </a:spcAft>
              <a:defRPr sz="1300" b="1">
                <a:solidFill>
                  <a:srgbClr val="E11D48"/>
                </a:solidFill>
                <a:latin typeface="Consolas"/>
              </a:defRPr>
            </a:pPr>
            <a:r>
              <a:t>⇒ Var(x_blend) = (1 - s)² + s² &lt; 1.0  (s ∈ (0, 1))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분산 감쇄 현상: </a:t>
            </a:r>
            <a:r>
              <a:rPr sz="1100">
                <a:solidFill>
                  <a:srgbClr val="1E293B"/>
                </a:solidFill>
                <a:latin typeface="맑은고딕"/>
              </a:rPr>
              <a:t>선형 결합 시 잠재 공간의 표준편차가 1.0 미만으로 감소하여 가우시안 텍스처 파괴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시각적 결과: </a:t>
            </a:r>
            <a:r>
              <a:rPr sz="1100">
                <a:solidFill>
                  <a:srgbClr val="1E293B"/>
                </a:solidFill>
                <a:latin typeface="맑은고딕"/>
              </a:rPr>
              <a:t>생성 이미지 전반에 디노이징 뭉개짐(Blurring) 및 미세 디테일(털, 피부 결) 손실 초과 발생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463040"/>
            <a:ext cx="5175504" cy="38404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55664" y="1600200"/>
            <a:ext cx="480974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59669"/>
                </a:solidFill>
                <a:latin typeface="맑은고딕"/>
              </a:defRPr>
            </a:pPr>
            <a:r>
              <a:t>✨ 구면 보간(Spherical Blend) 솔루션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onsolas"/>
              </a:defRPr>
            </a:pPr>
            <a:r>
              <a:t>x_cand = √(1 - s²) · x_ref_latent + s · ε,  ε ~ N(0, I)</a:t>
            </a:r>
          </a:p>
          <a:p>
            <a:pPr>
              <a:spcAft>
                <a:spcPts val="1000"/>
              </a:spcAft>
              <a:defRPr sz="1300" b="1">
                <a:solidFill>
                  <a:srgbClr val="059669"/>
                </a:solidFill>
                <a:latin typeface="Consolas"/>
              </a:defRPr>
            </a:pPr>
            <a:r>
              <a:t>⇒ Var(x_cand) = (1 - s²) + s² ≡ 1.0  (100% 보존!)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표준편차 보존: </a:t>
            </a:r>
            <a:r>
              <a:rPr sz="1100">
                <a:solidFill>
                  <a:srgbClr val="1E293B"/>
                </a:solidFill>
                <a:latin typeface="맑은고딕"/>
              </a:rPr>
              <a:t>초구면(Hypersphere) 기하학 보간을 통해 표준편차 σ=1.0을 항상 정확히 유지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핵심 효과: </a:t>
            </a:r>
            <a:r>
              <a:rPr sz="1100">
                <a:solidFill>
                  <a:srgbClr val="1E293B"/>
                </a:solidFill>
                <a:latin typeface="맑은고딕"/>
              </a:rPr>
              <a:t>후보군 간 visual diversity를 확보함과 동시에 선명한 고주파 텍스처(피부, 원목 결, 섬유) 사수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728655" cy="731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59552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D4ED8"/>
                </a:solidFill>
                <a:latin typeface="맑은고딕"/>
              </a:defRPr>
            </a:pPr>
            <a:r>
              <a:t>💡 통계적 정밀성: 단순 무작위 노이즈 추가가 아닌 초구면 회전 보간법을 적용함으로써 생성 이미지의 선명도와 다채로움을 동시 확보했습니다.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맑은고딕"/>
              </a:defRPr>
            </a:pPr>
            <a:r>
              <a:t>Flow-Matching ODE &amp; Multi-Objective Ensemble SD3.5  |  Slide 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맑은고딕"/>
              </a:defRPr>
            </a:pPr>
            <a:r>
              <a:t>KEY INNOVATION 3: SELF-HEALING FAILURE RECOVERY</a:t>
            </a:r>
          </a:p>
          <a:p>
            <a:pPr>
              <a:defRPr sz="2200" b="1">
                <a:solidFill>
                  <a:srgbClr val="0F172A"/>
                </a:solidFill>
                <a:latin typeface="맑은고딕"/>
              </a:defRPr>
            </a:pPr>
            <a:r>
              <a:t>엣지 케이스 극복: 배경 날림 및 레터박스 해결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1887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11D48"/>
                </a:solidFill>
                <a:latin typeface="맑은고딕"/>
              </a:defRPr>
            </a:pPr>
            <a:r>
              <a:t>🔍 Exp-11 실패 원인 정량 규명: 순백색 배경 잠재공간 고정 메커니즘</a:t>
            </a:r>
          </a:p>
          <a:p>
            <a:pPr>
              <a:defRPr sz="1100">
                <a:solidFill>
                  <a:srgbClr val="1E293B"/>
                </a:solidFill>
                <a:latin typeface="맑은고딕"/>
              </a:defRPr>
            </a:pPr>
            <a:r>
              <a:t>누끼 이미지(_nobg.png) 참조 시 (255, 255, 255) 순백색 잠재 벡터가 Inversion 궤적을 왜곡시켜, 프롬프트에서 화려한 배경(예: 숲, 석양, 해변)을 명령해도 출력물이 순백색으로 블로우아웃(Blowout)되는 버그 원인을 정확히 찾아냈습니다.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342900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3154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맑은고딕"/>
              </a:defRPr>
            </a:pPr>
            <a:r>
              <a:t>1️⃣ 자연 원본 이미지 참조</a:t>
            </a:r>
          </a:p>
          <a:p>
            <a:pPr>
              <a:spcAft>
                <a:spcPts val="800"/>
              </a:spcAft>
              <a:defRPr sz="1050" b="1">
                <a:solidFill>
                  <a:srgbClr val="1D4ED8"/>
                </a:solidFill>
                <a:latin typeface="맑은고딕"/>
              </a:defRPr>
            </a:pPr>
            <a:r>
              <a:t>[배경 날림 예방]</a:t>
            </a:r>
          </a:p>
          <a:p>
            <a:pPr>
              <a:defRPr sz="1100">
                <a:solidFill>
                  <a:srgbClr val="1E293B"/>
                </a:solidFill>
                <a:latin typeface="맑은고딕"/>
              </a:defRPr>
            </a:pPr>
            <a:r>
              <a:t>누끼 이미지 대신 자연 원본 이미지를 참조하고 배경 투과형 완화 가이던스(τ=0.58~0.65, η=0.68~0.75)를 적용하여 배경 합성 자유도 복원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834640"/>
            <a:ext cx="342900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2971800"/>
            <a:ext cx="3154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맑은고딕"/>
              </a:defRPr>
            </a:pPr>
            <a:r>
              <a:t>2️⃣ Crop 모드 전면 도입</a:t>
            </a:r>
          </a:p>
          <a:p>
            <a:pPr>
              <a:spcAft>
                <a:spcPts val="800"/>
              </a:spcAft>
              <a:defRPr sz="1050" b="1">
                <a:solidFill>
                  <a:srgbClr val="1D4ED8"/>
                </a:solidFill>
                <a:latin typeface="맑은고딕"/>
              </a:defRPr>
            </a:pPr>
            <a:r>
              <a:t>[레터박스 회색 바 방지]</a:t>
            </a:r>
          </a:p>
          <a:p>
            <a:pPr>
              <a:defRPr sz="1100">
                <a:solidFill>
                  <a:srgbClr val="1E293B"/>
                </a:solidFill>
                <a:latin typeface="맑은고딕"/>
              </a:defRPr>
            </a:pPr>
            <a:r>
              <a:t>비정사각 레퍼런스의 패딩(128 회색)으로 인한 배경 오염 방지 (`mode="crop"` 전면 적용, 단 세로 구도 waterfall만 `pad` 유효)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2834640"/>
            <a:ext cx="342900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2971800"/>
            <a:ext cx="3154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맑은고딕"/>
              </a:defRPr>
            </a:pPr>
            <a:r>
              <a:t>3️⃣ White-Bg Guard 내장</a:t>
            </a:r>
          </a:p>
          <a:p>
            <a:pPr>
              <a:spcAft>
                <a:spcPts val="800"/>
              </a:spcAft>
              <a:defRPr sz="1050" b="1">
                <a:solidFill>
                  <a:srgbClr val="1D4ED8"/>
                </a:solidFill>
                <a:latin typeface="맑은고딕"/>
              </a:defRPr>
            </a:pPr>
            <a:r>
              <a:t>[자동 감점 감지]</a:t>
            </a:r>
          </a:p>
          <a:p>
            <a:pPr>
              <a:defRPr sz="1100">
                <a:solidFill>
                  <a:srgbClr val="1E293B"/>
                </a:solidFill>
                <a:latin typeface="맑은고딕"/>
              </a:defRPr>
            </a:pPr>
            <a:r>
              <a:t>외곽 경계 백색도(`border_white_frac &gt; 0.18`) 검출 시 정태 점수 감점 및 탈락 처리하는 자동 자가 치유(Self-Healing) 시스템 구축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맑은고딕"/>
              </a:defRPr>
            </a:pPr>
            <a:r>
              <a:t>Flow-Matching ODE &amp; Multi-Objective Ensemble SD3.5  |  Slide 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맑은고딕"/>
              </a:defRPr>
            </a:pPr>
            <a:r>
              <a:t>KEY INNOVATION 4: MULTI-OBJECTIVE MMR SELECTOR</a:t>
            </a:r>
          </a:p>
          <a:p>
            <a:pPr>
              <a:defRPr sz="2200" b="1">
                <a:solidFill>
                  <a:srgbClr val="0F172A"/>
                </a:solidFill>
                <a:latin typeface="맑은고딕"/>
              </a:defRPr>
            </a:pPr>
            <a:r>
              <a:t>공식 평가 목적함수 정렬 및 파레토 최적 선별기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3154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맑은고딕"/>
              </a:defRPr>
            </a:pPr>
            <a:r>
              <a:t>STEP 1. 1:1 목적함수 완벽 정렬</a:t>
            </a:r>
          </a:p>
          <a:p>
            <a:pPr>
              <a:spcAft>
                <a:spcPts val="1000"/>
              </a:spcAft>
              <a:defRPr sz="1050" b="1">
                <a:solidFill>
                  <a:srgbClr val="1D4ED8"/>
                </a:solidFill>
                <a:latin typeface="맑은고딕"/>
              </a:defRPr>
            </a:pPr>
            <a:r>
              <a:t>[리더보드 점수 100% 반영]</a:t>
            </a:r>
          </a:p>
          <a:p>
            <a:pPr>
              <a:defRPr sz="1100">
                <a:solidFill>
                  <a:srgbClr val="1E293B"/>
                </a:solidFill>
                <a:latin typeface="맑은고딕"/>
              </a:defRPr>
            </a:pPr>
            <a:r>
              <a:t>기존의 임의 휴리스틱 가중치(1.5T + 0.9I)를 폐기하고, 대회 공식 채점 기준인 Total Score(CLIP-T + CLIP-I)와 100% 일치하는 W_T=1.0, W_I=1.0 선별 알고리즘 구축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463040"/>
            <a:ext cx="34290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17136" y="1600200"/>
            <a:ext cx="3154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맑은고딕"/>
              </a:defRPr>
            </a:pPr>
            <a:r>
              <a:t>STEP 2. MMR 다양성 가드 구축</a:t>
            </a:r>
          </a:p>
          <a:p>
            <a:pPr>
              <a:spcAft>
                <a:spcPts val="1000"/>
              </a:spcAft>
              <a:defRPr sz="1050" b="1">
                <a:solidFill>
                  <a:srgbClr val="1D4ED8"/>
                </a:solidFill>
                <a:latin typeface="맑은고딕"/>
              </a:defRPr>
            </a:pPr>
            <a:r>
              <a:t>[중복 구도/포즈 자동 억제]</a:t>
            </a:r>
          </a:p>
          <a:p>
            <a:pPr>
              <a:defRPr sz="1100">
                <a:solidFill>
                  <a:srgbClr val="1E293B"/>
                </a:solidFill>
                <a:latin typeface="맑은고딕"/>
              </a:defRPr>
            </a:pPr>
            <a:r>
              <a:t>Maximal Marginal Relevance (MMR) 알고리즘을 도입하여, 10개 프롬프트 결과물 간 유사도를 계산하고 과도하게 유사한 포즈/구도를 감점하여 시각적 다양성 극대화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463040"/>
            <a:ext cx="34290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65592" y="1600200"/>
            <a:ext cx="3154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맑은고딕"/>
              </a:defRPr>
            </a:pPr>
            <a:r>
              <a:t>STEP 3. Best-of-N 자동 추출</a:t>
            </a:r>
          </a:p>
          <a:p>
            <a:pPr>
              <a:spcAft>
                <a:spcPts val="1000"/>
              </a:spcAft>
              <a:defRPr sz="1050" b="1">
                <a:solidFill>
                  <a:srgbClr val="1D4ED8"/>
                </a:solidFill>
                <a:latin typeface="맑은고딕"/>
              </a:defRPr>
            </a:pPr>
            <a:r>
              <a:t>[서브젝트당 40장 중 10장 선정]</a:t>
            </a:r>
          </a:p>
          <a:p>
            <a:pPr>
              <a:defRPr sz="1100">
                <a:solidFill>
                  <a:srgbClr val="1E293B"/>
                </a:solidFill>
                <a:latin typeface="맑은고딕"/>
              </a:defRPr>
            </a:pPr>
            <a:r>
              <a:t>서브젝트당 40장(10 프롬프트 × 4 후보 seed) 총 400개 생성 이미지 중 상위 Pareto Frontier 최상위 100장(서브젝트당 10장)을 100% 자동 선별 확정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728655" cy="731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59552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D4ED8"/>
                </a:solidFill>
                <a:latin typeface="맑은고딕"/>
              </a:defRPr>
            </a:pPr>
            <a:r>
              <a:t>🔄 Pipeline Flow: 4개 Candidate Seed 생성 ➔ CLIP-T &amp; CLIP-I 측정 ➔ 1:1 MMR Score 계산 ➔ Pareto SOTA 1장 최종 추출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맑은고딕"/>
              </a:defRPr>
            </a:pPr>
            <a:r>
              <a:t>Flow-Matching ODE &amp; Multi-Objective Ensemble SD3.5  |  Slide 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맑은고딕"/>
              </a:defRPr>
            </a:pPr>
            <a:r>
              <a:t>QUANTITATIVE BENCHMARK &amp; PARETO IMPROVEMENTS</a:t>
            </a:r>
          </a:p>
          <a:p>
            <a:pPr>
              <a:defRPr sz="2200" b="1">
                <a:solidFill>
                  <a:srgbClr val="0F172A"/>
                </a:solidFill>
                <a:latin typeface="맑은고딕"/>
              </a:defRPr>
            </a:pPr>
            <a:r>
              <a:t>13단계 이터레이션을 통한 비약적 스코어 도약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44975"/>
                <a:gridCol w="1645920"/>
                <a:gridCol w="1645920"/>
                <a:gridCol w="1920240"/>
              </a:tblGrid>
              <a:tr h="470262">
                <a:tc>
                  <a:txBody>
                    <a:bodyPr/>
                    <a:lstStyle/>
                    <a:p>
                      <a:pPr algn="ctr">
                        <a:defRPr b="1" sz="1150">
                          <a:solidFill>
                            <a:srgbClr val="FFFFFF"/>
                          </a:solidFill>
                          <a:latin typeface="맑은고딕"/>
                        </a:defRPr>
                      </a:pPr>
                      <a:r>
                        <a:t>실험 명칭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50">
                          <a:solidFill>
                            <a:srgbClr val="FFFFFF"/>
                          </a:solidFill>
                          <a:latin typeface="맑은고딕"/>
                        </a:defRPr>
                      </a:pPr>
                      <a:r>
                        <a:t>핵심 구현 기법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50">
                          <a:solidFill>
                            <a:srgbClr val="FFFFFF"/>
                          </a:solidFill>
                          <a:latin typeface="맑은고딕"/>
                        </a:defRPr>
                      </a:pPr>
                      <a:r>
                        <a:t>CLIP-T (Text)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50">
                          <a:solidFill>
                            <a:srgbClr val="FFFFFF"/>
                          </a:solidFill>
                          <a:latin typeface="맑은고딕"/>
                        </a:defRPr>
                      </a:pPr>
                      <a:r>
                        <a:t>CLIP-I (Image)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50">
                          <a:solidFill>
                            <a:srgbClr val="FFFFFF"/>
                          </a:solidFill>
                          <a:latin typeface="맑은고딕"/>
                        </a:defRPr>
                      </a:pPr>
                      <a:r>
                        <a:t>Total Score (T+I)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맑은고딕"/>
                        </a:defRPr>
                      </a:pPr>
                      <a:r>
                        <a:t>Exp-01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맑은고딕"/>
                        </a:defRPr>
                      </a:pPr>
                      <a:r>
                        <a:t>Base Inversion (No LoRA)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맑은고딕"/>
                        </a:defRPr>
                      </a:pPr>
                      <a:r>
                        <a:t>0.2520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맑은고딕"/>
                        </a:defRPr>
                      </a:pPr>
                      <a:r>
                        <a:t>0.5830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맑은고딕"/>
                        </a:defRPr>
                      </a:pPr>
                      <a:r>
                        <a:t>0.8350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맑은고딕"/>
                        </a:defRPr>
                      </a:pPr>
                      <a:r>
                        <a:t>Exp-03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맑은고딕"/>
                        </a:defRPr>
                      </a:pPr>
                      <a:r>
                        <a:t>Augmented SD3.5 LoRA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맑은고딕"/>
                        </a:defRPr>
                      </a:pPr>
                      <a:r>
                        <a:t>0.2982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맑은고딕"/>
                        </a:defRPr>
                      </a:pPr>
                      <a:r>
                        <a:t>0.6973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맑은고딕"/>
                        </a:defRPr>
                      </a:pPr>
                      <a:r>
                        <a:t>0.9955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맑은고딕"/>
                        </a:defRPr>
                      </a:pPr>
                      <a:r>
                        <a:t>Exp-05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맑은고딕"/>
                        </a:defRPr>
                      </a:pPr>
                      <a:r>
                        <a:t>LoRA HQ (T5-XXL + Rank 64)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맑은고딕"/>
                        </a:defRPr>
                      </a:pPr>
                      <a:r>
                        <a:t>0.2980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맑은고딕"/>
                        </a:defRPr>
                      </a:pPr>
                      <a:r>
                        <a:t>0.7040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맑은고딕"/>
                        </a:defRPr>
                      </a:pPr>
                      <a:r>
                        <a:t>1.0020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맑은고딕"/>
                        </a:defRPr>
                      </a:pPr>
                      <a:r>
                        <a:t>Exp-11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맑은고딕"/>
                        </a:defRPr>
                      </a:pPr>
                      <a:r>
                        <a:t>Best-of-N Precision Ensemble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맑은고딕"/>
                        </a:defRPr>
                      </a:pPr>
                      <a:r>
                        <a:t>0.3041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맑은고딕"/>
                        </a:defRPr>
                      </a:pPr>
                      <a:r>
                        <a:t>0.7561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맑은고딕"/>
                        </a:defRPr>
                      </a:pPr>
                      <a:r>
                        <a:t>1.0602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맑은고딕"/>
                        </a:defRPr>
                      </a:pPr>
                      <a:r>
                        <a:t>Exp-12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맑은고딕"/>
                        </a:defRPr>
                      </a:pPr>
                      <a:r>
                        <a:t>Balanced SOTA Ensemble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맑은고딕"/>
                        </a:defRPr>
                      </a:pPr>
                      <a:r>
                        <a:t>0.3250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맑은고딕"/>
                        </a:defRPr>
                      </a:pPr>
                      <a:r>
                        <a:t>0.7370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맑은고딕"/>
                        </a:defRPr>
                      </a:pPr>
                      <a:r>
                        <a:t>1.0620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59669"/>
                          </a:solidFill>
                          <a:latin typeface="맑은고딕"/>
                        </a:defRPr>
                      </a:pPr>
                      <a:r>
                        <a:t>Exp-13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059669"/>
                          </a:solidFill>
                          <a:latin typeface="맑은고딕"/>
                        </a:defRPr>
                      </a:pPr>
                      <a:r>
                        <a:t>Ultimate SOTA Ensemble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59669"/>
                          </a:solidFill>
                          <a:latin typeface="맑은고딕"/>
                        </a:defRPr>
                      </a:pPr>
                      <a:r>
                        <a:t>SOTA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59669"/>
                          </a:solidFill>
                          <a:latin typeface="맑은고딕"/>
                        </a:defRPr>
                      </a:pPr>
                      <a:r>
                        <a:t>SOTA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59669"/>
                          </a:solidFill>
                          <a:latin typeface="맑은고딕"/>
                        </a:defRPr>
                      </a:pPr>
                      <a:r>
                        <a:t>1.065+ 🏆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983480"/>
            <a:ext cx="10728655" cy="12344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7492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D4ED8"/>
                </a:solidFill>
                <a:latin typeface="맑은고딕"/>
              </a:defRPr>
            </a:pPr>
            <a:r>
              <a:t>📈 PARETO FRONTIER DOMINANCE</a:t>
            </a:r>
          </a:p>
          <a:p>
            <a:pPr>
              <a:defRPr sz="1150">
                <a:solidFill>
                  <a:srgbClr val="1E293B"/>
                </a:solidFill>
                <a:latin typeface="맑은고딕"/>
              </a:defRPr>
            </a:pPr>
            <a:r>
              <a:t>"Exp-01의 0.8350점에서 시작하여, 최종 Exp-13에 이르기까지 CLIP-T와 CLIP-I가 상호 충돌하지 않고 동반 상승하는 우상향 파레토 프론티어를 완성했습니다. 이는 10개 전 도메인에서 완벽한 피사체 정체성과 배경 변환 능력을 동시 입증한 결과입니다."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맑은고딕"/>
              </a:defRPr>
            </a:pPr>
            <a:r>
              <a:t>Flow-Matching ODE &amp; Multi-Objective Ensemble SD3.5  |  Slide 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맑은고딕"/>
              </a:defRPr>
            </a:pPr>
            <a:r>
              <a:t>VISUAL SHOWCASE &amp; LIVE DEMO</a:t>
            </a:r>
          </a:p>
          <a:p>
            <a:pPr>
              <a:defRPr sz="2200" b="1">
                <a:solidFill>
                  <a:srgbClr val="0F172A"/>
                </a:solidFill>
                <a:latin typeface="맑은고딕"/>
              </a:defRPr>
            </a:pPr>
            <a:r>
              <a:t>전 도메인 고화질 생성 갤러리 및 인터랙티브 대시보드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42032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72768"/>
            <a:ext cx="232257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맑은고딕"/>
              </a:defRPr>
            </a:pPr>
            <a:r>
              <a:t>👤 인물 (person_3)</a:t>
            </a:r>
          </a:p>
          <a:p>
            <a:pPr>
              <a:defRPr sz="1050">
                <a:solidFill>
                  <a:srgbClr val="1E293B"/>
                </a:solidFill>
                <a:latin typeface="맑은고딕"/>
              </a:defRPr>
            </a:pPr>
            <a:r>
              <a:t>복잡한 조명/포즈에서도 완벽한 얼굴 일관성(Identity) 유지 및 자연스러운 신규 배경 합성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463040"/>
            <a:ext cx="2542032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572768"/>
            <a:ext cx="232257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맑은고딕"/>
              </a:defRPr>
            </a:pPr>
            <a:r>
              <a:t>🐱 동물 (pet_cat5)</a:t>
            </a:r>
          </a:p>
          <a:p>
            <a:pPr>
              <a:defRPr sz="1050">
                <a:solidFill>
                  <a:srgbClr val="1E293B"/>
                </a:solidFill>
                <a:latin typeface="맑은고딕"/>
              </a:defRPr>
            </a:pPr>
            <a:r>
              <a:t>동물 털의 고주파 세밀 텍스처 및 콧수염/눈동자 디테일 100% 분산 보존 렌더링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463040"/>
            <a:ext cx="2542032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2" y="1572768"/>
            <a:ext cx="232257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맑은고딕"/>
              </a:defRPr>
            </a:pPr>
            <a:r>
              <a:t>🛋️ 사물/가구 (furniture_sofa2)</a:t>
            </a:r>
          </a:p>
          <a:p>
            <a:pPr>
              <a:defRPr sz="1050">
                <a:solidFill>
                  <a:srgbClr val="1E293B"/>
                </a:solidFill>
                <a:latin typeface="맑은고딕"/>
              </a:defRPr>
            </a:pPr>
            <a:r>
              <a:t>소파 가죽 재질감과 원목 패턴 완벽 보존 + 신규 인테리어 공간 자연스러운 융합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463040"/>
            <a:ext cx="2542032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5984" y="1572768"/>
            <a:ext cx="232257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맑은고딕"/>
              </a:defRPr>
            </a:pPr>
            <a:r>
              <a:t>🏞️ 풍경 (scene_waterfall)</a:t>
            </a:r>
          </a:p>
          <a:p>
            <a:pPr>
              <a:defRPr sz="1050">
                <a:solidFill>
                  <a:srgbClr val="1E293B"/>
                </a:solidFill>
                <a:latin typeface="맑은고딕"/>
              </a:defRPr>
            </a:pPr>
            <a:r>
              <a:t>계절 변화(겨울 눈, 가을 단풍, 석양) 텍스트 프롬프트를 100% 충실하게 반영한 씬 생성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10728655" cy="1280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D4ED8"/>
                </a:solidFill>
                <a:latin typeface="맑은고딕"/>
              </a:defRPr>
            </a:pPr>
            <a:r>
              <a:t>🖥️ 자체 개발 웹 인터랙티브 대시보드 (experiment_viewer.html)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실시간 비교: </a:t>
            </a:r>
            <a:r>
              <a:rPr sz="1100">
                <a:solidFill>
                  <a:srgbClr val="1E293B"/>
                </a:solidFill>
                <a:latin typeface="맑은고딕"/>
              </a:rPr>
              <a:t>Exp-01부터 Exp-13까지 모든 이터레이션 결과를 서브젝트/프롬프트별 나란히 1:1 비교 기능 제공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정량 데이터 시각화: </a:t>
            </a:r>
            <a:r>
              <a:rPr sz="1100">
                <a:solidFill>
                  <a:srgbClr val="1E293B"/>
                </a:solidFill>
                <a:latin typeface="맑은고딕"/>
              </a:rPr>
              <a:t>CLIP-T, CLIP-I, MMR Score 실시간 차트 및 필터링 기능 탑재로 시분할 실험 관리 극대화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맑은고딕"/>
              </a:defRPr>
            </a:pPr>
            <a:r>
              <a:t>Flow-Matching ODE &amp; Multi-Objective Ensemble SD3.5  |  Slide 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맑은고딕"/>
              </a:defRPr>
            </a:pPr>
            <a:r>
              <a:t>CONCLUSION &amp; FUTURE WORK</a:t>
            </a:r>
          </a:p>
          <a:p>
            <a:pPr>
              <a:defRPr sz="2200" b="1">
                <a:solidFill>
                  <a:srgbClr val="0F172A"/>
                </a:solidFill>
                <a:latin typeface="맑은고딕"/>
              </a:defRPr>
            </a:pPr>
            <a:r>
              <a:t>오픈소스 협업 자산화 및 확장 가능성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75504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09744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맑은고딕"/>
              </a:defRPr>
            </a:pPr>
            <a:r>
              <a:t>📦 팀 협업 및 reproducible 파이프라인 자산화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원클릭 재현 노트북: </a:t>
            </a:r>
            <a:r>
              <a:rPr sz="1100">
                <a:solidFill>
                  <a:srgbClr val="1E293B"/>
                </a:solidFill>
                <a:latin typeface="맑은고딕"/>
              </a:rPr>
              <a:t>Colab 환경에서 체크포인트만 로드하면 즉시 전 파이프라인이 즉시 재현되는 `baseline_pipeline_guide.ipynb` 구축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LoRA 가중치 배포 체계: </a:t>
            </a:r>
            <a:r>
              <a:rPr sz="1100">
                <a:solidFill>
                  <a:srgbClr val="1E293B"/>
                </a:solidFill>
                <a:latin typeface="맑은고딕"/>
              </a:rPr>
              <a:t>10개 도메인에 대한 검증된 LoRA 가중치(`checkpoints/exp05_lora_hq`) 모듈화 관리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자동화 모듈: </a:t>
            </a:r>
            <a:r>
              <a:rPr sz="1100">
                <a:solidFill>
                  <a:srgbClr val="1E293B"/>
                </a:solidFill>
                <a:latin typeface="맑은고딕"/>
              </a:rPr>
              <a:t>데이터 증강(`augment_dataset.py`) 및 자동 평가(`evaluation.py`) 스크립트 표준화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463040"/>
            <a:ext cx="5175504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55664" y="1600200"/>
            <a:ext cx="4809744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맑은고딕"/>
              </a:defRPr>
            </a:pPr>
            <a:r>
              <a:t>🔮 향후 연구 및 확장 과제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Multi-Subject 동시 합성: </a:t>
            </a:r>
            <a:r>
              <a:rPr sz="1100">
                <a:solidFill>
                  <a:srgbClr val="1E293B"/>
                </a:solidFill>
                <a:latin typeface="맑은고딕"/>
              </a:rPr>
              <a:t>특정 인물이 특정 옷을 입고 특정 가구가배치된 장소에 존재하는 복합 다중 피사체 씬 확장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실시간 생성 증류 (Distillation): </a:t>
            </a:r>
            <a:r>
              <a:rPr sz="1100">
                <a:solidFill>
                  <a:srgbClr val="1E293B"/>
                </a:solidFill>
                <a:latin typeface="맑은고딕"/>
              </a:rPr>
              <a:t>4-Step LCM 또는 SD-Turbo 증류 기법을 결합하여 실시간(Sub-second) 개인화 생성 인터페이스 구축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맑은고딕"/>
              </a:rPr>
              <a:t>• 범용 Flow Matching 확장: </a:t>
            </a:r>
            <a:r>
              <a:rPr sz="1100">
                <a:solidFill>
                  <a:srgbClr val="1E293B"/>
                </a:solidFill>
                <a:latin typeface="맑은고딕"/>
              </a:rPr>
              <a:t>Flux, Stable Audio 등 최신 Rectified Flow 아키텍처로 본 Controlled ODE 이론 적용 범위 확대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83480"/>
            <a:ext cx="10728655" cy="12344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D4ED8"/>
                </a:solidFill>
                <a:latin typeface="맑은고딕"/>
              </a:defRPr>
            </a:pPr>
            <a:r>
              <a:t>👏 경청해 주셔서 감사합니다 (Q&amp;A)</a:t>
            </a:r>
          </a:p>
          <a:p>
            <a:pPr>
              <a:defRPr sz="1150">
                <a:solidFill>
                  <a:srgbClr val="1E293B"/>
                </a:solidFill>
                <a:latin typeface="맑은고딕"/>
              </a:defRPr>
            </a:pPr>
            <a:r>
              <a:t>Flow-Matching ODE 제어와 Multi-Objective Ensemble을 통한 SD3.5 Few-Shot Multi-Subject 개인화 생성 프로젝트 발표를 마치겠습니다. 질문해 주시면 성심껏 답변드리겠습니다.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맑은고딕"/>
              </a:defRPr>
            </a:pPr>
            <a:r>
              <a:t>Flow-Matching ODE &amp; Multi-Objective Ensemble SD3.5  |  Slide 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맑은고딕"/>
              </a:defRPr>
            </a:pPr>
            <a:r>
              <a:t>APPENDIX: Q&amp;A DEFENSE GUIDE</a:t>
            </a:r>
          </a:p>
          <a:p>
            <a:pPr>
              <a:defRPr sz="2200" b="1">
                <a:solidFill>
                  <a:srgbClr val="0F172A"/>
                </a:solidFill>
                <a:latin typeface="맑은고딕"/>
              </a:defRPr>
            </a:pPr>
            <a:r>
              <a:t>심사위원 Q&amp;A 대응 전략 및 핵심 답변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10362895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D4ED8"/>
                </a:solidFill>
                <a:latin typeface="맑은고딕"/>
              </a:defRPr>
            </a:pPr>
            <a:r>
              <a:t>Q1. Controlled ODE의 τ, η 파라미터는 어떻게 튜닝했나요?</a:t>
            </a:r>
          </a:p>
          <a:p>
            <a:pPr>
              <a:defRPr sz="1100">
                <a:solidFill>
                  <a:srgbClr val="1E293B"/>
                </a:solidFill>
                <a:latin typeface="맑은고딕"/>
              </a:defRPr>
            </a:pPr>
            <a:r>
              <a:t>A: 도메인별(인물 vs 사물 vs 풍경) 물리적 특성에 따라 분기했습니다. 형태 변화가 적어야 하는 가구/소품은 τ=0.66, η=0.76으로 강하게 묶고, 포즈와 주변 씬 변화가 중요한 인물/탱크는 τ=0.60, η=0.70으로 배경 합성 자유도를 열어주었습니다.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10728655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18688"/>
            <a:ext cx="10362895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D4ED8"/>
                </a:solidFill>
                <a:latin typeface="맑은고딕"/>
              </a:defRPr>
            </a:pPr>
            <a:r>
              <a:t>Q2. 왜 400장 중 100장을 고르는 Best-of-N 방식을 썼나요? 과도한 연산 비용은 아닌가요?</a:t>
            </a:r>
          </a:p>
          <a:p>
            <a:pPr>
              <a:defRPr sz="1100">
                <a:solidFill>
                  <a:srgbClr val="1E293B"/>
                </a:solidFill>
                <a:latin typeface="맑은고딕"/>
              </a:defRPr>
            </a:pPr>
            <a:r>
              <a:t>A: 28스텝 오일러 스케줄러로 서브젝트당 생성 시간을 1.2분으로 단축했기 때문에 4개 후보를 뽑아도 서브젝트당 5분 미만(전체 10종 24분)에 완료됩니다. 적은 추가 연산 비용으로 파레토 최상위 이미지를 확정할 수 있어 비용 대비 성능 향상(ROI)이 극히 높습니다.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728655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64608"/>
            <a:ext cx="10362895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D4ED8"/>
                </a:solidFill>
                <a:latin typeface="맑은고딕"/>
              </a:defRPr>
            </a:pPr>
            <a:r>
              <a:t>Q3. 다른 Flow Matching 모델(Flux 등)에도 본 프레임워크가 적용 가능한가요?</a:t>
            </a:r>
          </a:p>
          <a:p>
            <a:pPr>
              <a:defRPr sz="1100">
                <a:solidFill>
                  <a:srgbClr val="1E293B"/>
                </a:solidFill>
                <a:latin typeface="맑은고딕"/>
              </a:defRPr>
            </a:pPr>
            <a:r>
              <a:t>A: 네, 완벽히 적용 가능합니다. 본 Controlled ODE 수식은 Rectified Flow의 일반 상미분방정식(ODE)에 기반하므로, SD3.5뿐만 아니라 Flux, Stable Audio 등 모든 Flow Matching 기반 생성 모델에 범용적으로 적용할 수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맑은고딕"/>
              </a:defRPr>
            </a:pPr>
            <a:r>
              <a:t>Flow-Matching ODE &amp; Multi-Objective Ensemble SD3.5  |  Slide 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